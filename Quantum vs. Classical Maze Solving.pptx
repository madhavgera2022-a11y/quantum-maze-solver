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b693ded4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1b693ded4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1b693ded4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a1b693ded4_2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1b693ded4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a1b693ded4_2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1b693ded4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1b693ded4_2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b693ded4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1b693ded4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1b693ded4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a1b693ded4_2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b693ded4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a1b693ded4_2_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1b693ded4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1b693ded4_2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1b693ded4_2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a1b693ded4_2_1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1b693de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1b693de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-GB"/>
              <a:t>Quantum vs. Classical Maze Solving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/>
              <a:t>An exploration of Quantum Walks and Quantum Search Algorithms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/>
              <a:t>The Problem &amp; Our Goal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The Problem:</a:t>
            </a:r>
            <a:r>
              <a:rPr lang="en-GB"/>
              <a:t> Mazes are a classic representation of a graph traversal problem. The goal is to find a path from a Start node (S) to an End node (E).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The Goal:</a:t>
            </a:r>
            <a:r>
              <a:rPr lang="en-GB"/>
              <a:t> To implement, visualize, and compare a standard classical algorithm (A*) against different quantum-inspired algorithms to understand their conceptual differences, applications, and performance.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The Files:</a:t>
            </a:r>
            <a:r>
              <a:rPr lang="en-GB"/>
              <a:t> We explored three distinct approaches in our Python scripts.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/>
              <a:t>The Setup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-161448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Maze Generation:</a:t>
            </a:r>
            <a:r>
              <a:rPr lang="en-GB"/>
              <a:t> </a:t>
            </a:r>
            <a:r>
              <a:rPr lang="en-GB"/>
              <a:t>We first generate a "perfect" maze using Randomized Depth-First Search (DFS).This initial maze has only </a:t>
            </a:r>
            <a:r>
              <a:rPr b="1" lang="en-GB"/>
              <a:t>one unique solution path</a:t>
            </a:r>
            <a:r>
              <a:rPr lang="en-GB"/>
              <a:t> from 'S' to 'E'.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1448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Adding Complexity:</a:t>
            </a:r>
            <a:r>
              <a:rPr lang="en-GB"/>
              <a:t> </a:t>
            </a:r>
            <a:r>
              <a:rPr lang="en-GB"/>
              <a:t>Next, we add "shortcuts" or "loops" by removing some internal walls.This makes the problem more interesting by creating </a:t>
            </a:r>
            <a:r>
              <a:rPr b="1" lang="en-GB"/>
              <a:t>multiple valid paths</a:t>
            </a:r>
            <a:r>
              <a:rPr lang="en-GB"/>
              <a:t>.</a:t>
            </a:r>
            <a:endParaRPr/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61448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Graph Conversion:</a:t>
            </a:r>
            <a:r>
              <a:rPr lang="en-GB"/>
              <a:t> </a:t>
            </a:r>
            <a:r>
              <a:rPr lang="en-GB" sz="2050"/>
              <a:t>We then convert this maze layout into a </a:t>
            </a:r>
            <a:r>
              <a:rPr lang="en-GB" sz="2050">
                <a:solidFill>
                  <a:srgbClr val="188038"/>
                </a:solidFill>
              </a:rPr>
              <a:t>networkx</a:t>
            </a:r>
            <a:r>
              <a:rPr lang="en-GB" sz="2050"/>
              <a:t> Graph.</a:t>
            </a:r>
            <a:r>
              <a:rPr b="1" lang="en-GB" sz="2050"/>
              <a:t>Cell -&gt; Node:</a:t>
            </a:r>
            <a:r>
              <a:rPr lang="en-GB" sz="2050"/>
              <a:t> Every path cell (</a:t>
            </a:r>
            <a:r>
              <a:rPr lang="en-GB" sz="2050">
                <a:solidFill>
                  <a:srgbClr val="188038"/>
                </a:solidFill>
              </a:rPr>
              <a:t>.</a:t>
            </a:r>
            <a:r>
              <a:rPr lang="en-GB" sz="2050"/>
              <a:t>, </a:t>
            </a:r>
            <a:r>
              <a:rPr lang="en-GB" sz="2050">
                <a:solidFill>
                  <a:srgbClr val="188038"/>
                </a:solidFill>
              </a:rPr>
              <a:t>S</a:t>
            </a:r>
            <a:r>
              <a:rPr lang="en-GB" sz="2050"/>
              <a:t>, </a:t>
            </a:r>
            <a:r>
              <a:rPr lang="en-GB" sz="2050">
                <a:solidFill>
                  <a:srgbClr val="188038"/>
                </a:solidFill>
              </a:rPr>
              <a:t>E</a:t>
            </a:r>
            <a:r>
              <a:rPr lang="en-GB" sz="2050"/>
              <a:t>) becomes a </a:t>
            </a:r>
            <a:r>
              <a:rPr b="1" lang="en-GB" sz="2050"/>
              <a:t>Node</a:t>
            </a:r>
            <a:r>
              <a:rPr lang="en-GB" sz="2050"/>
              <a:t>.</a:t>
            </a:r>
            <a:r>
              <a:rPr b="1" lang="en-GB" sz="2050"/>
              <a:t>Connection -&gt; Edge:</a:t>
            </a:r>
            <a:r>
              <a:rPr lang="en-GB" sz="2050"/>
              <a:t> An open path between two cells becomes an </a:t>
            </a:r>
            <a:r>
              <a:rPr b="1" lang="en-GB" sz="2050"/>
              <a:t>Edge</a:t>
            </a:r>
            <a:r>
              <a:rPr lang="en-GB" sz="2050"/>
              <a:t>.This Graph (and its Adjacency Matrix) is what our algorithms will run on.</a:t>
            </a:r>
            <a:endParaRPr/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/>
              <a:t>The Classical Solution: A* Algorithm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It's a "heuristic search" algorithm, meaning it makes intelligent guesses.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It finds the </a:t>
            </a:r>
            <a:r>
              <a:rPr i="1" lang="en-GB"/>
              <a:t>probably shortest</a:t>
            </a:r>
            <a:r>
              <a:rPr lang="en-GB"/>
              <a:t> path.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The Formula: Explain f(n) = g(n) + h(n) in simple terms.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g(n): The actual cost (steps) from Start to the current node.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GB"/>
              <a:t>h(n): The estimated cost from the current node to the End. We used the Manhattan Distance (e.g., abs(x1-x2) + abs(y1-y2)) as our heuristic.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Result:</a:t>
            </a:r>
            <a:r>
              <a:rPr lang="en-GB"/>
              <a:t> It's highly efficient </a:t>
            </a:r>
            <a:r>
              <a:rPr i="1" lang="en-GB"/>
              <a:t>because</a:t>
            </a:r>
            <a:r>
              <a:rPr lang="en-GB"/>
              <a:t> it prioritizes nodes that are both close to the start </a:t>
            </a:r>
            <a:r>
              <a:rPr i="1" lang="en-GB"/>
              <a:t>and</a:t>
            </a:r>
            <a:r>
              <a:rPr lang="en-GB"/>
              <a:t> seem close to the end.`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/>
              <a:t>The Libraries We Used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qiskit:</a:t>
            </a:r>
            <a:r>
              <a:rPr lang="en-GB"/>
              <a:t> The core library for building, simulating, and running quantum circuits.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networkx:</a:t>
            </a:r>
            <a:r>
              <a:rPr lang="en-GB"/>
              <a:t> Used to create, store, and analyze the maze as a graph (used by A*).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matplotlib:</a:t>
            </a:r>
            <a:r>
              <a:rPr lang="en-GB"/>
              <a:t> The engine for all our visualizations (the heatmaps and path plots).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numpy:</a:t>
            </a:r>
            <a:r>
              <a:rPr lang="en-GB"/>
              <a:t> Used for all the heavy matrix math, especially for the Hamiltonian.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/>
              <a:t>Experiment 1: Quantum Walk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176847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File:</a:t>
            </a:r>
            <a:r>
              <a:rPr lang="en-GB"/>
              <a:t> walkdynafinal3.py</a:t>
            </a:r>
            <a:endParaRPr/>
          </a:p>
          <a:p>
            <a:pPr indent="-17684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Main Idea:</a:t>
            </a:r>
            <a:r>
              <a:rPr lang="en-GB"/>
              <a:t> Instead of "solving" the maze, we </a:t>
            </a:r>
            <a:r>
              <a:rPr i="1" lang="en-GB"/>
              <a:t>simulate</a:t>
            </a:r>
            <a:r>
              <a:rPr lang="en-GB"/>
              <a:t> a quantum particle "walking" on the maze graph and see where it's most likely to be found over time.</a:t>
            </a:r>
            <a:endParaRPr/>
          </a:p>
          <a:p>
            <a:pPr indent="-17684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Core Concept:</a:t>
            </a:r>
            <a:r>
              <a:rPr lang="en-GB"/>
              <a:t> </a:t>
            </a:r>
            <a:r>
              <a:rPr b="1" lang="en-GB"/>
              <a:t>Continuous-Time Quantum Walk (CTQW)</a:t>
            </a:r>
            <a:endParaRPr/>
          </a:p>
          <a:p>
            <a:pPr indent="-176847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How We Did It:</a:t>
            </a:r>
            <a:endParaRPr/>
          </a:p>
          <a:p>
            <a:pPr indent="-338455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GB"/>
              <a:t>The maze graph is represented by its Adjacency Matrix (A). This matrix is the Hamiltonian (H) of our quantum system.</a:t>
            </a:r>
            <a:endParaRPr/>
          </a:p>
          <a:p>
            <a:pPr indent="-2413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38455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3"/>
            </a:pPr>
            <a:r>
              <a:rPr lang="en-GB"/>
              <a:t>The qiskit.circuit.library.HamiltonianGate(A, time=t) is the magic. It directly implements the e^{-iAt} operation in our circuit.</a:t>
            </a:r>
            <a:endParaRPr/>
          </a:p>
          <a:p>
            <a:pPr indent="-338455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3"/>
            </a:pPr>
            <a:r>
              <a:rPr lang="en-GB"/>
              <a:t>We start the "walker" at the Start node S and measure its position after time t.</a:t>
            </a:r>
            <a:endParaRPr/>
          </a:p>
          <a:p>
            <a:pPr indent="-338455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3"/>
            </a:pPr>
            <a:r>
              <a:rPr b="1" lang="en-GB"/>
              <a:t>What it Shows:</a:t>
            </a:r>
            <a:r>
              <a:rPr lang="en-GB"/>
              <a:t> The resulting visualization is a </a:t>
            </a:r>
            <a:r>
              <a:rPr b="1" lang="en-GB"/>
              <a:t>probability heatmap</a:t>
            </a:r>
            <a:r>
              <a:rPr lang="en-GB"/>
              <a:t>. It's not </a:t>
            </a:r>
            <a:r>
              <a:rPr i="1" lang="en-GB"/>
              <a:t>one</a:t>
            </a:r>
            <a:r>
              <a:rPr lang="en-GB"/>
              <a:t> path, but a wave of probabilities spreading through the maze. It explores </a:t>
            </a:r>
            <a:r>
              <a:rPr i="1" lang="en-GB"/>
              <a:t>all paths</a:t>
            </a:r>
            <a:r>
              <a:rPr lang="en-GB"/>
              <a:t> simultaneously.</a:t>
            </a:r>
            <a:endParaRPr/>
          </a:p>
          <a:p>
            <a:pPr indent="-2413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-2413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-24130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61" name="Google Shape;1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689" y="3242400"/>
            <a:ext cx="5389819" cy="434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/>
              <a:t>Experiment 2: Grover's Search (for a Node)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10000"/>
          </a:bodyPr>
          <a:lstStyle/>
          <a:p>
            <a:pPr indent="-169545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File:</a:t>
            </a:r>
            <a:r>
              <a:rPr lang="en-GB"/>
              <a:t> walkdynafinal4.py</a:t>
            </a:r>
            <a:endParaRPr/>
          </a:p>
          <a:p>
            <a:pPr indent="-16954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Main Idea: We treat the maze as an "unstructured database" of $N$ nodes, and we want to find the specific "End" node.</a:t>
            </a:r>
            <a:endParaRPr/>
          </a:p>
          <a:p>
            <a:pPr indent="-16954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Core Concept:</a:t>
            </a:r>
            <a:r>
              <a:rPr lang="en-GB"/>
              <a:t> </a:t>
            </a:r>
            <a:r>
              <a:rPr b="1" lang="en-GB"/>
              <a:t>Grover's Search Algorithm</a:t>
            </a:r>
            <a:endParaRPr/>
          </a:p>
          <a:p>
            <a:pPr indent="-16954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/>
              <a:t>How We Did It:</a:t>
            </a:r>
            <a:endParaRPr/>
          </a:p>
          <a:p>
            <a:pPr indent="-33401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GB"/>
              <a:t>Search Space: All $N$ nodes in the graph. We need ceil(log2(N)) qubits.</a:t>
            </a:r>
            <a:endParaRPr/>
          </a:p>
          <a:p>
            <a:pPr indent="-33401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GB"/>
              <a:t>Superposition: We use Hadamard (H) gates to put our qubits into an equal superposition, representing all N nodes at once.</a:t>
            </a:r>
            <a:endParaRPr/>
          </a:p>
          <a:p>
            <a:pPr indent="-33401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GB"/>
              <a:t>The Oracle: We build a special circuit that "marks" the winning state. It flips the sign (phase) of the quantum state corresponding to the End Node's index.</a:t>
            </a:r>
            <a:endParaRPr/>
          </a:p>
          <a:p>
            <a:pPr indent="-33401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GB"/>
              <a:t>The Diffuser:</a:t>
            </a:r>
            <a:r>
              <a:rPr lang="en-GB"/>
              <a:t> This circuit "amplifies" the amplitude of the marked state.</a:t>
            </a:r>
            <a:endParaRPr/>
          </a:p>
          <a:p>
            <a:pPr indent="-334010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GB"/>
              <a:t>Result: After repeating this $\approx \sqrt{N}$ times, measuring the qubits will give us the index of the End Node with very high probability.</a:t>
            </a:r>
            <a:endParaRPr/>
          </a:p>
          <a:p>
            <a:pPr indent="-169545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Key Insight:</a:t>
            </a:r>
            <a:r>
              <a:rPr lang="en-GB"/>
              <a:t> This finds the </a:t>
            </a:r>
            <a:r>
              <a:rPr i="1" lang="en-GB"/>
              <a:t>location</a:t>
            </a:r>
            <a:r>
              <a:rPr lang="en-GB"/>
              <a:t> of the exit, but it doesn't tell you the </a:t>
            </a:r>
            <a:r>
              <a:rPr i="1" lang="en-GB"/>
              <a:t>path</a:t>
            </a:r>
            <a:r>
              <a:rPr lang="en-GB"/>
              <a:t> to get there. It's like asking "Where is the exit?" and getting the coordinates, not the directions.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/>
              <a:t>Experiment 3: Grover's Search (for a Path)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-179546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File:</a:t>
            </a:r>
            <a:r>
              <a:rPr lang="en-GB"/>
              <a:t> final.py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Main Idea:</a:t>
            </a:r>
            <a:r>
              <a:rPr lang="en-GB"/>
              <a:t> This is the most complex. We search through a database of </a:t>
            </a:r>
            <a:r>
              <a:rPr i="1" lang="en-GB"/>
              <a:t>all possible paths</a:t>
            </a:r>
            <a:r>
              <a:rPr lang="en-GB"/>
              <a:t> to find the </a:t>
            </a:r>
            <a:r>
              <a:rPr i="1" lang="en-GB"/>
              <a:t>valid</a:t>
            </a:r>
            <a:r>
              <a:rPr lang="en-GB"/>
              <a:t> one(s).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Core Concept:</a:t>
            </a:r>
            <a:r>
              <a:rPr lang="en-GB"/>
              <a:t> </a:t>
            </a:r>
            <a:r>
              <a:rPr b="1" lang="en-GB"/>
              <a:t>Grover's Search (on a different search space)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How We Did It:</a:t>
            </a:r>
            <a:endParaRPr/>
          </a:p>
          <a:p>
            <a:pPr indent="-342582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GB"/>
              <a:t>Classical Bottleneck:</a:t>
            </a:r>
            <a:r>
              <a:rPr lang="en-GB"/>
              <a:t> First, we </a:t>
            </a:r>
            <a:r>
              <a:rPr i="1" lang="en-GB"/>
              <a:t>classically</a:t>
            </a:r>
            <a:r>
              <a:rPr lang="en-GB"/>
              <a:t> find </a:t>
            </a:r>
            <a:r>
              <a:rPr i="1" lang="en-GB"/>
              <a:t>all possible simple paths</a:t>
            </a:r>
            <a:r>
              <a:rPr lang="en-GB"/>
              <a:t> from Start to End (find_all_simple_paths). This is computationally </a:t>
            </a:r>
            <a:r>
              <a:rPr b="1" lang="en-GB"/>
              <a:t>very slow</a:t>
            </a:r>
            <a:r>
              <a:rPr lang="en-GB"/>
              <a:t> (exponential).</a:t>
            </a:r>
            <a:endParaRPr/>
          </a:p>
          <a:p>
            <a:pPr indent="-342582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GB"/>
              <a:t>Search Space: This list of paths is our new database. If there are $N=1000$ possible paths, we search this list.</a:t>
            </a:r>
            <a:endParaRPr/>
          </a:p>
          <a:p>
            <a:pPr indent="-342582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GB"/>
              <a:t>The Oracle: We build an oracle that "marks" a path if it is valid (i.e., it doesn't hit any walls). This is for mazes with loops, where some paths are valid and some are not.</a:t>
            </a:r>
            <a:endParaRPr/>
          </a:p>
          <a:p>
            <a:pPr indent="-342582" lvl="1" marL="685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lang="en-GB"/>
              <a:t>Grover's:</a:t>
            </a:r>
            <a:r>
              <a:rPr lang="en-GB"/>
              <a:t> We run Grover's to find the </a:t>
            </a:r>
            <a:r>
              <a:rPr i="1" lang="en-GB"/>
              <a:t>index</a:t>
            </a:r>
            <a:r>
              <a:rPr lang="en-GB"/>
              <a:t> of a valid path from our list.</a:t>
            </a:r>
            <a:endParaRPr/>
          </a:p>
          <a:p>
            <a:pPr indent="-179546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GB"/>
              <a:t>Key Insight:</a:t>
            </a:r>
            <a:r>
              <a:rPr lang="en-GB"/>
              <a:t> This highlights the "Classical Bottleneck." The quantum search itself is fast, but </a:t>
            </a:r>
            <a:r>
              <a:rPr i="1" lang="en-GB"/>
              <a:t>preparing the data</a:t>
            </a:r>
            <a:r>
              <a:rPr lang="en-GB"/>
              <a:t> for it (finding all paths first) was much, much slower than just running A* to begin with.</a:t>
            </a:r>
            <a:endParaRPr/>
          </a:p>
          <a:p>
            <a:pPr indent="-762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GB"/>
              <a:t>What We Learned: Comparing the Concepts</a:t>
            </a:r>
            <a:endParaRPr/>
          </a:p>
        </p:txBody>
      </p:sp>
      <p:sp>
        <p:nvSpPr>
          <p:cNvPr id="179" name="Google Shape;179;p3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i="1" lang="en-GB"/>
              <a:t>A (Classical):</a:t>
            </a:r>
            <a:r>
              <a:rPr lang="en-GB"/>
              <a:t>* Is a </a:t>
            </a:r>
            <a:r>
              <a:rPr b="1" lang="en-GB"/>
              <a:t>path-finding algorithm</a:t>
            </a:r>
            <a:r>
              <a:rPr lang="en-GB"/>
              <a:t>. It's designed for this problem and is extremely efficient. It gives one, optimal solution.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Quantum Walk (Experiment 1):</a:t>
            </a:r>
            <a:r>
              <a:rPr lang="en-GB"/>
              <a:t> Is an </a:t>
            </a:r>
            <a:r>
              <a:rPr b="1" lang="en-GB"/>
              <a:t>exploration algorithm</a:t>
            </a:r>
            <a:r>
              <a:rPr lang="en-GB"/>
              <a:t>. It explores all paths at once and gives a </a:t>
            </a:r>
            <a:r>
              <a:rPr i="1" lang="en-GB"/>
              <a:t>probability distribution</a:t>
            </a:r>
            <a:r>
              <a:rPr lang="en-GB"/>
              <a:t>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b="1" lang="en-GB"/>
              <a:t>Grover's (Experiments 2 &amp; 3):</a:t>
            </a:r>
            <a:r>
              <a:rPr lang="en-GB"/>
              <a:t> Is a </a:t>
            </a:r>
            <a:r>
              <a:rPr b="1" lang="en-GB"/>
              <a:t>search algorithm</a:t>
            </a:r>
            <a:r>
              <a:rPr lang="en-GB"/>
              <a:t>. It provides a speedup for </a:t>
            </a:r>
            <a:r>
              <a:rPr i="1" lang="en-GB"/>
              <a:t>unstructured search</a:t>
            </a:r>
            <a:r>
              <a:rPr lang="en-GB"/>
              <a:t>, but we learned that how you </a:t>
            </a:r>
            <a:r>
              <a:rPr i="1" lang="en-GB"/>
              <a:t>frame the problem</a:t>
            </a:r>
            <a:r>
              <a:rPr lang="en-GB"/>
              <a:t> (searching for nodes vs. searching for paths) is critical and can be limited by classical prep steps.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Future Work &amp; Next Steps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/>
              <a:t>This exploration opened up several advanced topics. Our next steps would be to tackle the key challenges we identified:</a:t>
            </a:r>
            <a:endParaRPr/>
          </a:p>
          <a:p>
            <a:pPr indent="-297497" lvl="0" marL="457200" rtl="0" algn="l">
              <a:spcBef>
                <a:spcPts val="800"/>
              </a:spcBef>
              <a:spcAft>
                <a:spcPts val="0"/>
              </a:spcAft>
              <a:buSzPct val="66666"/>
              <a:buChar char="•"/>
            </a:pPr>
            <a:r>
              <a:rPr b="1" lang="en-GB"/>
              <a:t>Implement a Discrete-Time Quantum Walk (DTQW)</a:t>
            </a:r>
            <a:r>
              <a:rPr lang="en-GB"/>
              <a:t> - Compare our time-based (CTQW) results to a "step-based" (DTQW) model by building the "Coin" and "Shift" operators for a fixed maze.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7497" lvl="0" marL="457200" rtl="0" algn="l">
              <a:spcBef>
                <a:spcPts val="800"/>
              </a:spcBef>
              <a:spcAft>
                <a:spcPts val="0"/>
              </a:spcAft>
              <a:buSzPct val="66666"/>
              <a:buChar char="•"/>
            </a:pPr>
            <a:r>
              <a:rPr b="1" lang="en-GB"/>
              <a:t>Solve the "Classical Bottleneck" (Grover's Search) - </a:t>
            </a:r>
            <a:r>
              <a:rPr lang="en-GB"/>
              <a:t>Design an Oracle that can validate a path </a:t>
            </a:r>
            <a:r>
              <a:rPr i="1" lang="en-GB"/>
              <a:t>during</a:t>
            </a:r>
            <a:r>
              <a:rPr lang="en-GB"/>
              <a:t> the quantum computation, removing the need for the slow classical pre-processing step.(only </a:t>
            </a:r>
            <a:r>
              <a:rPr lang="en-GB"/>
              <a:t>theoretically</a:t>
            </a:r>
            <a:r>
              <a:rPr lang="en-GB"/>
              <a:t>)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7497" lvl="0" marL="457200" rtl="0" algn="l">
              <a:spcBef>
                <a:spcPts val="800"/>
              </a:spcBef>
              <a:spcAft>
                <a:spcPts val="0"/>
              </a:spcAft>
              <a:buSzPct val="66666"/>
              <a:buChar char="•"/>
            </a:pPr>
            <a:r>
              <a:rPr b="1" lang="en-GB"/>
              <a:t>Optimize the Continuous-Time Walk (CTQW) - </a:t>
            </a:r>
            <a:r>
              <a:rPr lang="en-GB"/>
              <a:t> Create a hybrid classical-quantum loop to automatically find the optimal evolution time </a:t>
            </a:r>
            <a:r>
              <a:rPr lang="en-GB">
                <a:solidFill>
                  <a:srgbClr val="188038"/>
                </a:solidFill>
              </a:rPr>
              <a:t>t</a:t>
            </a:r>
            <a:r>
              <a:rPr lang="en-GB"/>
              <a:t> that maximizes the probability at the 'End' node.</a:t>
            </a:r>
            <a:endParaRPr b="1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